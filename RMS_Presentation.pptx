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8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2513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83280"/>
            <a:ext cx="9144000" cy="137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" name="Shape 1"/>
          <p:cNvSpPr/>
          <p:nvPr/>
        </p:nvSpPr>
        <p:spPr>
          <a:xfrm>
            <a:off x="0" y="3520440"/>
            <a:ext cx="9144000" cy="16230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Management System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Warehouse Group New Zealand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4871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D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DPSM Project  ·  Phase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 ·  Requirements  ·  UML  ·  C# Implementation  ·  Live Demo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0416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Matty Luriz  ·  23206450  ·  Data Process and Software Modelling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&amp; Stakeholders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10058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93192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640080" y="10789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Warehouse Group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Zealand's largest listed retailer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13232" y="1901952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8" name="Text 6"/>
          <p:cNvSpPr/>
          <p:nvPr/>
        </p:nvSpPr>
        <p:spPr>
          <a:xfrm>
            <a:off x="914400" y="185623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1982 — single Auckland warehouse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243230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914400" y="2386584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~12,000 employees across 42 stores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2962656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2" name="Text 10"/>
          <p:cNvSpPr/>
          <p:nvPr/>
        </p:nvSpPr>
        <p:spPr>
          <a:xfrm>
            <a:off x="914400" y="291693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Brands: The Warehouse, Warehouse Stationery, Noel Leeming, Torpedo7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3232" y="349300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4" name="Text 12"/>
          <p:cNvSpPr/>
          <p:nvPr/>
        </p:nvSpPr>
        <p:spPr>
          <a:xfrm>
            <a:off x="914400" y="344728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centralises in-store POS, online sales, inventory, payments and reporting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960120"/>
            <a:ext cx="4297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6" name="Shape 14"/>
          <p:cNvSpPr/>
          <p:nvPr/>
        </p:nvSpPr>
        <p:spPr>
          <a:xfrm>
            <a:off x="4572000" y="960120"/>
            <a:ext cx="6400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7" name="Text 15"/>
          <p:cNvSpPr/>
          <p:nvPr/>
        </p:nvSpPr>
        <p:spPr>
          <a:xfrm>
            <a:off x="4709160" y="10332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89520" y="1069848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9" name="Text 17"/>
          <p:cNvSpPr/>
          <p:nvPr/>
        </p:nvSpPr>
        <p:spPr>
          <a:xfrm>
            <a:off x="7589520" y="10698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09160" y="13258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cart, checkout, track orders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1746504"/>
            <a:ext cx="4297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22" name="Shape 20"/>
          <p:cNvSpPr/>
          <p:nvPr/>
        </p:nvSpPr>
        <p:spPr>
          <a:xfrm>
            <a:off x="4572000" y="1746504"/>
            <a:ext cx="6400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3" name="Text 21"/>
          <p:cNvSpPr/>
          <p:nvPr/>
        </p:nvSpPr>
        <p:spPr>
          <a:xfrm>
            <a:off x="4709160" y="18196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Associate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89520" y="185623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5" name="Text 23"/>
          <p:cNvSpPr/>
          <p:nvPr/>
        </p:nvSpPr>
        <p:spPr>
          <a:xfrm>
            <a:off x="7589520" y="18562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9160" y="211226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transactions, receipts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0" y="2532888"/>
            <a:ext cx="4297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28" name="Shape 26"/>
          <p:cNvSpPr/>
          <p:nvPr/>
        </p:nvSpPr>
        <p:spPr>
          <a:xfrm>
            <a:off x="4572000" y="2532888"/>
            <a:ext cx="6400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9" name="Text 27"/>
          <p:cNvSpPr/>
          <p:nvPr/>
        </p:nvSpPr>
        <p:spPr>
          <a:xfrm>
            <a:off x="4709160" y="2606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Staff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589520" y="2642616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1" name="Text 29"/>
          <p:cNvSpPr/>
          <p:nvPr/>
        </p:nvSpPr>
        <p:spPr>
          <a:xfrm>
            <a:off x="7589520" y="26426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09160" y="28986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updates, inventory, alerts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0" y="3319272"/>
            <a:ext cx="4297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34" name="Shape 32"/>
          <p:cNvSpPr/>
          <p:nvPr/>
        </p:nvSpPr>
        <p:spPr>
          <a:xfrm>
            <a:off x="4572000" y="3319272"/>
            <a:ext cx="6400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5" name="Text 33"/>
          <p:cNvSpPr/>
          <p:nvPr/>
        </p:nvSpPr>
        <p:spPr>
          <a:xfrm>
            <a:off x="4709160" y="33924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589520" y="3429000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7" name="Text 35"/>
          <p:cNvSpPr/>
          <p:nvPr/>
        </p:nvSpPr>
        <p:spPr>
          <a:xfrm>
            <a:off x="7589520" y="34290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09160" y="36850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analytics, performance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0" y="4105656"/>
            <a:ext cx="4297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40" name="Shape 38"/>
          <p:cNvSpPr/>
          <p:nvPr/>
        </p:nvSpPr>
        <p:spPr>
          <a:xfrm>
            <a:off x="4572000" y="4105656"/>
            <a:ext cx="6400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1" name="Text 39"/>
          <p:cNvSpPr/>
          <p:nvPr/>
        </p:nvSpPr>
        <p:spPr>
          <a:xfrm>
            <a:off x="4709160" y="41788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Administrator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589520" y="4215384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3" name="Text 41"/>
          <p:cNvSpPr/>
          <p:nvPr/>
        </p:nvSpPr>
        <p:spPr>
          <a:xfrm>
            <a:off x="7589520" y="42153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09160" y="447141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system maintenance, RBAC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— FR &amp; NFR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10058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6974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548640" y="10149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of Sale  FR1–5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44168"/>
            <a:ext cx="25328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payment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products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total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receipt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stock update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37560" y="96012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9" name="Shape 7"/>
          <p:cNvSpPr/>
          <p:nvPr/>
        </p:nvSpPr>
        <p:spPr>
          <a:xfrm>
            <a:off x="3337560" y="960120"/>
            <a:ext cx="2697480" cy="32918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3429000" y="10149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 FR6–9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29000" y="1344168"/>
            <a:ext cx="25328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products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delivery details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96012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3" name="Shape 11"/>
          <p:cNvSpPr/>
          <p:nvPr/>
        </p:nvSpPr>
        <p:spPr>
          <a:xfrm>
            <a:off x="6217920" y="960120"/>
            <a:ext cx="269748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4" name="Text 12"/>
          <p:cNvSpPr/>
          <p:nvPr/>
        </p:nvSpPr>
        <p:spPr>
          <a:xfrm>
            <a:off x="6309360" y="10149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 FR10–13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09360" y="1344168"/>
            <a:ext cx="25328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processing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details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transaction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failures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2697480" cy="329184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8" name="Text 16"/>
          <p:cNvSpPr/>
          <p:nvPr/>
        </p:nvSpPr>
        <p:spPr>
          <a:xfrm>
            <a:off x="548640" y="275234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 FR14–16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081528"/>
            <a:ext cx="25328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stock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availability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alerts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37560" y="269748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21" name="Shape 19"/>
          <p:cNvSpPr/>
          <p:nvPr/>
        </p:nvSpPr>
        <p:spPr>
          <a:xfrm>
            <a:off x="3337560" y="2697480"/>
            <a:ext cx="269748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2" name="Text 20"/>
          <p:cNvSpPr/>
          <p:nvPr/>
        </p:nvSpPr>
        <p:spPr>
          <a:xfrm>
            <a:off x="3429000" y="275234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 FR17–19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29000" y="3081528"/>
            <a:ext cx="25328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reports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reports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reports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7920" y="269748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25" name="Shape 23"/>
          <p:cNvSpPr/>
          <p:nvPr/>
        </p:nvSpPr>
        <p:spPr>
          <a:xfrm>
            <a:off x="6217920" y="2697480"/>
            <a:ext cx="2697480" cy="32918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6" name="Text 24"/>
          <p:cNvSpPr/>
          <p:nvPr/>
        </p:nvSpPr>
        <p:spPr>
          <a:xfrm>
            <a:off x="6309360" y="275234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 FR20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3081528"/>
            <a:ext cx="25328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4315968"/>
            <a:ext cx="841248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9" name="Text 27"/>
          <p:cNvSpPr/>
          <p:nvPr/>
        </p:nvSpPr>
        <p:spPr>
          <a:xfrm>
            <a:off x="640080" y="4352544"/>
            <a:ext cx="8046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  —  NFR1 Response &lt;2s  ·  NFR2 24/7 Availability  ·  NFR3 Security  ·  NFR4 Scalability  ·  NFR5 Usability  ·  NFR6 Data Consistency  ·  NFR7 Compliance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Use Case Diagram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10058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9" name="Text 7"/>
          <p:cNvSpPr/>
          <p:nvPr/>
        </p:nvSpPr>
        <p:spPr>
          <a:xfrm>
            <a:off x="73152" y="25146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Staff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" y="37033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0" y="1737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0" y="3474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Admin</a:t>
            </a:r>
            <a:endParaRPr lang="en-US" sz="9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E59E491-C179-609E-7177-C6D9136E1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279" y="1065242"/>
            <a:ext cx="5803115" cy="40211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Class Diagram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10058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7ED94A4D-DFA0-C805-DF7B-29DB08516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11" y="1370331"/>
            <a:ext cx="6777318" cy="36921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Principles  ·  Low Coupling  ·  High Cohesion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10058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69748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548640" y="10149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44168"/>
            <a:ext cx="2532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is the base class. All 5 roles extend User — reusing login(), logout(), and shared fields without duplication.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0352" y="2185416"/>
            <a:ext cx="2551176" cy="347472"/>
          </a:xfrm>
          <a:prstGeom prst="rect">
            <a:avLst/>
          </a:prstGeom>
          <a:solidFill>
            <a:srgbClr val="F0F9FF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9" name="Text 7"/>
          <p:cNvSpPr/>
          <p:nvPr/>
        </p:nvSpPr>
        <p:spPr>
          <a:xfrm>
            <a:off x="585216" y="2203704"/>
            <a:ext cx="2459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SalesAssociate : User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 : User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337560" y="960120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1" name="Shape 9"/>
          <p:cNvSpPr/>
          <p:nvPr/>
        </p:nvSpPr>
        <p:spPr>
          <a:xfrm>
            <a:off x="3337560" y="960120"/>
            <a:ext cx="26974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2" name="Text 10"/>
          <p:cNvSpPr/>
          <p:nvPr/>
        </p:nvSpPr>
        <p:spPr>
          <a:xfrm>
            <a:off x="3429000" y="10149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1344168"/>
            <a:ext cx="2532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 are private. Stock in Product can only change via updateStock() — preventing invalid values from outside the class.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10712" y="2185416"/>
            <a:ext cx="2551176" cy="347472"/>
          </a:xfrm>
          <a:prstGeom prst="rect">
            <a:avLst/>
          </a:prstGeom>
          <a:solidFill>
            <a:srgbClr val="F0F9FF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5" name="Text 13"/>
          <p:cNvSpPr/>
          <p:nvPr/>
        </p:nvSpPr>
        <p:spPr>
          <a:xfrm>
            <a:off x="3465576" y="2203704"/>
            <a:ext cx="2459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int _stockQuantity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updateStock(int qty)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17920" y="960120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7" name="Shape 15"/>
          <p:cNvSpPr/>
          <p:nvPr/>
        </p:nvSpPr>
        <p:spPr>
          <a:xfrm>
            <a:off x="6217920" y="960120"/>
            <a:ext cx="269748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8" name="Text 16"/>
          <p:cNvSpPr/>
          <p:nvPr/>
        </p:nvSpPr>
        <p:spPr>
          <a:xfrm>
            <a:off x="6309360" y="10149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1344168"/>
            <a:ext cx="2532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◆──── OrderItem (1..*). Sale ◆──── SaleItem (1..*). Child objects are owned by and destroyed with the parent.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91072" y="2185416"/>
            <a:ext cx="2551176" cy="347472"/>
          </a:xfrm>
          <a:prstGeom prst="rect">
            <a:avLst/>
          </a:prstGeom>
          <a:solidFill>
            <a:srgbClr val="F0F9FF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1" name="Text 19"/>
          <p:cNvSpPr/>
          <p:nvPr/>
        </p:nvSpPr>
        <p:spPr>
          <a:xfrm>
            <a:off x="6345936" y="2203704"/>
            <a:ext cx="2459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◆──── OrderItem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  ◆──── SaleItem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2743200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2697480" cy="329184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4" name="Text 22"/>
          <p:cNvSpPr/>
          <p:nvPr/>
        </p:nvSpPr>
        <p:spPr>
          <a:xfrm>
            <a:off x="548640" y="27980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Coupling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3127248"/>
            <a:ext cx="2532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class creates another class internally. Sale, Payment, Order, Report are all created in Setup() and injected as parameters.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0352" y="3968496"/>
            <a:ext cx="2551176" cy="347472"/>
          </a:xfrm>
          <a:prstGeom prst="rect">
            <a:avLst/>
          </a:prstGeom>
          <a:solidFill>
            <a:srgbClr val="F0F9FF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7" name="Text 25"/>
          <p:cNvSpPr/>
          <p:nvPr/>
        </p:nvSpPr>
        <p:spPr>
          <a:xfrm>
            <a:off x="585216" y="3986784"/>
            <a:ext cx="2459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processSale(Sale s, Payment p, ...)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generateReport(string t, Report r)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337560" y="2743200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29" name="Shape 27"/>
          <p:cNvSpPr/>
          <p:nvPr/>
        </p:nvSpPr>
        <p:spPr>
          <a:xfrm>
            <a:off x="3337560" y="2743200"/>
            <a:ext cx="269748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0" name="Text 28"/>
          <p:cNvSpPr/>
          <p:nvPr/>
        </p:nvSpPr>
        <p:spPr>
          <a:xfrm>
            <a:off x="3429000" y="27980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Cohesion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29000" y="3127248"/>
            <a:ext cx="2532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has one job. Product manages stock. Payment handles payment logic. Report handles generation. No concerns overlap.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10712" y="3968496"/>
            <a:ext cx="2551176" cy="347472"/>
          </a:xfrm>
          <a:prstGeom prst="rect">
            <a:avLst/>
          </a:prstGeom>
          <a:solidFill>
            <a:srgbClr val="F0F9FF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3" name="Text 31"/>
          <p:cNvSpPr/>
          <p:nvPr/>
        </p:nvSpPr>
        <p:spPr>
          <a:xfrm>
            <a:off x="3465576" y="3986784"/>
            <a:ext cx="2459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→ stock only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 → payment logic only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217920" y="2743200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35" name="Shape 33"/>
          <p:cNvSpPr/>
          <p:nvPr/>
        </p:nvSpPr>
        <p:spPr>
          <a:xfrm>
            <a:off x="6217920" y="2743200"/>
            <a:ext cx="2697480" cy="32918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6" name="Text 34"/>
          <p:cNvSpPr/>
          <p:nvPr/>
        </p:nvSpPr>
        <p:spPr>
          <a:xfrm>
            <a:off x="6309360" y="27980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09360" y="3127248"/>
            <a:ext cx="2532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◇──── Product (0..*). Inventory holds references to Products but does not own them — Products exist independently.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91072" y="3968496"/>
            <a:ext cx="2551176" cy="347472"/>
          </a:xfrm>
          <a:prstGeom prst="rect">
            <a:avLst/>
          </a:prstGeom>
          <a:solidFill>
            <a:srgbClr val="F0F9FF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9" name="Text 37"/>
          <p:cNvSpPr/>
          <p:nvPr/>
        </p:nvSpPr>
        <p:spPr>
          <a:xfrm>
            <a:off x="6345936" y="3986784"/>
            <a:ext cx="2459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 ◇──── Product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 ──── Report (0..*)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772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DEMO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Console UI  —  Retail Management System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97280" y="2359152"/>
            <a:ext cx="6949440" cy="365760"/>
          </a:xfrm>
          <a:prstGeom prst="rect">
            <a:avLst/>
          </a:prstGeom>
          <a:solidFill>
            <a:srgbClr val="0A2540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1234440" y="2377440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[ 1 ]  Login — correct &amp; wrong credentials           FR20 RBAC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097280" y="2798064"/>
            <a:ext cx="6949440" cy="365760"/>
          </a:xfrm>
          <a:prstGeom prst="rect">
            <a:avLst/>
          </a:prstGeom>
          <a:solidFill>
            <a:srgbClr val="0A2540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1234440" y="2816352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[ 2 ]  Scan items and process a POS sale             FR1–5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97280" y="3236976"/>
            <a:ext cx="6949440" cy="365760"/>
          </a:xfrm>
          <a:prstGeom prst="rect">
            <a:avLst/>
          </a:prstGeom>
          <a:solidFill>
            <a:srgbClr val="0A2540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9" name="Text 7"/>
          <p:cNvSpPr/>
          <p:nvPr/>
        </p:nvSpPr>
        <p:spPr>
          <a:xfrm>
            <a:off x="1234440" y="3255264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[ 3 ]  View inventory and trigger a stock alert      FR14–16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97280" y="3675888"/>
            <a:ext cx="6949440" cy="365760"/>
          </a:xfrm>
          <a:prstGeom prst="rect">
            <a:avLst/>
          </a:prstGeom>
          <a:solidFill>
            <a:srgbClr val="0A2540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1" name="Text 9"/>
          <p:cNvSpPr/>
          <p:nvPr/>
        </p:nvSpPr>
        <p:spPr>
          <a:xfrm>
            <a:off x="1234440" y="3694176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[ 6 ]  Place an online order then cancel it          FR7–9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97280" y="4114800"/>
            <a:ext cx="6949440" cy="365760"/>
          </a:xfrm>
          <a:prstGeom prst="rect">
            <a:avLst/>
          </a:prstGeom>
          <a:solidFill>
            <a:srgbClr val="0A2540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3" name="Text 11"/>
          <p:cNvSpPr/>
          <p:nvPr/>
        </p:nvSpPr>
        <p:spPr>
          <a:xfrm>
            <a:off x="1234440" y="4133088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[ 7 ]  Process a payment — success and decline       FR10–13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97280" y="4553712"/>
            <a:ext cx="6949440" cy="365760"/>
          </a:xfrm>
          <a:prstGeom prst="rect">
            <a:avLst/>
          </a:prstGeom>
          <a:solidFill>
            <a:srgbClr val="0A2540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5" name="Text 13"/>
          <p:cNvSpPr/>
          <p:nvPr/>
        </p:nvSpPr>
        <p:spPr>
          <a:xfrm>
            <a:off x="1234440" y="4572000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[ 8 ]  Generate a sales report and export            FR17–19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2296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82296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08760" y="113385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Warehouse Group — 5 departments, 5 stakeholder roles identified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673352"/>
            <a:ext cx="82296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9" name="Text 7"/>
          <p:cNvSpPr/>
          <p:nvPr/>
        </p:nvSpPr>
        <p:spPr>
          <a:xfrm>
            <a:off x="548640" y="167335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08760" y="172821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functional + 7 non-functional requirements, full traceability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267712"/>
            <a:ext cx="82296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2" name="Text 10"/>
          <p:cNvSpPr/>
          <p:nvPr/>
        </p:nvSpPr>
        <p:spPr>
          <a:xfrm>
            <a:off x="548640" y="226771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08760" y="232257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 — 5 actors, 10 use cases, &lt;&lt;include&gt;&gt; and &lt;&lt;extend&gt;&gt;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862072"/>
            <a:ext cx="82296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5" name="Text 13"/>
          <p:cNvSpPr/>
          <p:nvPr/>
        </p:nvSpPr>
        <p:spPr>
          <a:xfrm>
            <a:off x="548640" y="286207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08760" y="291693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C# classes — UML mapping, OOP principles, low coupling, high cohesion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456432"/>
            <a:ext cx="82296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8" name="Text 16"/>
          <p:cNvSpPr/>
          <p:nvPr/>
        </p:nvSpPr>
        <p:spPr>
          <a:xfrm>
            <a:off x="548640" y="345643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08760" y="351129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CUI covering FR1–FR20 and NFR1–NFR7 with live output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2793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Interfaces (IPayable), enumerations (OrderStatusEnum), extended integration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618</Words>
  <Application>Microsoft Office PowerPoint</Application>
  <PresentationFormat>On-screen Show (16:9)</PresentationFormat>
  <Paragraphs>115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Management System — DPSM Phase 1</dc:title>
  <dc:subject>PptxGenJS Presentation</dc:subject>
  <dc:creator>PptxGenJS</dc:creator>
  <cp:lastModifiedBy>Matty Luriz</cp:lastModifiedBy>
  <cp:revision>3</cp:revision>
  <dcterms:created xsi:type="dcterms:W3CDTF">2026-04-18T07:29:47Z</dcterms:created>
  <dcterms:modified xsi:type="dcterms:W3CDTF">2026-04-18T08:03:26Z</dcterms:modified>
</cp:coreProperties>
</file>